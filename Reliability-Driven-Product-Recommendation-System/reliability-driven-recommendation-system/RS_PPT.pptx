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7071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Project introduces the forensic analytics framing of the deck.
 - Authors are Priyanka S (23MIA1032) and Kavya N (23MIA1125).
 - Scope is 60,000 negative Electronics reviews from Amazon.
 - Forensic framing means signals are leads, not verdicts.
 - Every signal is paired with interpretation, alternative explanation, and investigative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Forensic not predictive: signals are leads, not verdicts.
 - Manual triage fails at scale — 60,000 reviews cannot be read by hand.
 - Naive score-only approaches over-claim misconduct.
 - Every lead carries its own interpretation, alternative explanation, and next action.
 - Outcome goal is a prioritized, transparent case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Dataset is McAuley-Lab Amazon Reviews 2023, hosted on HuggingFace.
 - Streaming collection, not bulk download — 467,845 reviews scanned in real time.
 - Filtered down to 60,000 negative reviews (rating in [1, 2], text length &gt;= 20 chars).
 - Ten raw fields retained per review for reproducibility.
 - Streamed records persisted to electronics_negative_reviews.jsonl.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- 7-stage pipeline: standardize, behavior features, deviation/burst, text similarity, network/anomaly, image hashing, evidence scoring.
 - Standardization includes image URL extraction and 6-theme complaint categorization.
 - Temporal burst uses a 3-month rolling median baseline.
 - Text similarity runs on a 20,000-review sampled subset via TF-IDF + cosine Nearest Neighbors.
 - Image hashing uses 16x16 average hash (256-bit) and Hamming distance for reuse detection.
 - Final stage aggregates 12 evidence components into a forensic signal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Pipeline has 7 stages flowing from raw data source to evidence-scored case queue.
 - Stage 1: stream Amazon Reviews 2023 Electronics JSONL from HuggingFace.
 - Stage 2: filter to 60,000 negative reviews (1-2 star, text length &gt;= 20).
 - Stages 3-6: standardize, engineer features, run detection models, hash images.
 - Stage 7: aggregate 12 evidence components into the forensic signal score.
 - Outputs flow to case register, evidence matrix, priority narratives, population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- 6 complaint themes: quality, delivery, seller, refund, performance, appearance.
 - Multiple themes can co-occur in a single review; categories are not mutually exclusive.
 - Outputs the complaint_summary table sorted by frequency.
 - Dual business use: operational prioritization for CS/product/seller teams AND feeds the forensic signal score.
 - complaint_category_count is capped at 3 in the evidence_complaint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reviewer_features.csv and product_features.csv are the two core derived tables exported here.
- Reviewer activity is bucketed into 4 tiers (Very low / Low / Moderate / High) for quick triage.
- Per-reviewer and per-product aggregates feed both operational investigation and downstream anomaly detection.
- negative_ratio + one_star_ratio together separate genuine dissatisfaction from systematic negative-bombing.
- Network degree is layered on next slide to capture structural position in the reviewer-product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rating_deviation = |rating - product_mean|; large values (&gt;= 2 stars) flag outlier or possibly fake ratings.
- burst_ratio = monthly_count / rolling_baseline; thresholds are 1.5 (moderate) and 3 (strong).
- burst_interpretation text makes every row human-readable on its own.
- Both signals need external event context — promotions, recalls, shipping outages — before any causal claim.
- Single review deviation vs. monthly volume burst capture outlier behavior at two different time scales.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TF-IDF vectorizer (12k features, 1-2 grams, min_df=2) feeds cosine NearestNeighbors with k=2.
- Run on a 20,000-review subsample of the 60,000-review population (TEXT_SIMILARITY_LIMIT).
- 0.75 is the compare-originals threshold; 0.90 = likely templated; 0.55 = common wording; below = no signal.
- similar_text_review_id is preserved so investigators can pull both reviews side by side.
- Similarity is a lead, not proof — original reviews must still be compared before any misconduct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NetworkX reviewer-product graph (U_ and P_ nodes) supplies the network_degree feature.
- IsolationForest fit on 10 scaled reviewer features — 200 trees, contamination='auto', random_state=42.
- 90th percentile is the flag threshold; tiers above 97 and 75 add severity context.
- Multivariate anomaly means two flagged reviewers may be anomalous for entirely different reasons.
- Top anomalous reviewers form the prioritized investigation queue — avoids single-metric over-reliance.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average_hash = grayscale, 16x16, mean-threshold = 256-bit binary string.
- Hamming distance counts differing bit positions; &lt;= 12 out of 256 (&gt;= 95% similarity) flags potential reuse.
- Hash is invariant to small brightness, contrast, and aspect-ratio changes — well suited for near-duplicate detection.
- image_matches DataFrame preserves both case IDs, reviewer IDs, product ASINs, and interpretation note.
- Original-image inspection is still required — same-product images can legitimately repeat and be benign.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- 12 evidence components compose the forensic signal score; each carries its own clearly stated rule.
- Small integer rules keep scoring auditable — no opaque weights, no hidden multipliers.
- Priority tiers split at score 5 (Routine) and 9 (Contextual); High-priority at 10+.
- Top 50 cases selected by score, with anomaly_percentile as tiebreaker for the working queue.
- Score = prioritization, not proof — high score means many signals accumulated, not misconduct established.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Four key detection visualizations across complaint, temporal, anomaly, and image signals.
 - Quality is the largest complaint theme; multiple themes can co-occur per review.
 - Monthly burst months flag periods needing external event context (recalls, promotions).
 - Anomaly scatter shows typical reviewers cluster, anomalous reviewers form the high-activity / high-negative tail.
 - Image availability is small (~14%) but image reuse signals are the strongest visual-evidence 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Score distribution is right-skewed: most cases are low-score, only a small minority in the high-priority tail.
 - Priority tier counts confirm: routine dominates, contextual is the working queue, high-priority is the small actionable set.
 - Component contribution chart shows which signals actually drive the score across the population.
 - Top 15 cases are the analyst's first-pass triage queue; top 3 highlighted in accent red.
 - All four charts are exported from the notebook and attached to case-level data in the CSV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- 6 fields per case: observation, forensic_interpretation, alternative_explanations, recommended_actions, investigative_conclusion, case_narrative.
- observation is kept deliberately separate from forensic_interpretation — facts vs tentative meaning.
- alternative_explanations forces non-fraud causes onto the record (promotions explain bursts, common wording explains text similarity).
- investigative_conclusion tiers at score 12 (high-priority) and 7 (contextual); routine below 7.
- Every conclusion tier explicitly disclaims that signals do not establish misconduct.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- 11 CSV artifacts make up the deliverable set across cleaned data, features, analyses, evidence, and narratives.
- Different stakeholders read different files — executives read population_level_insights.csv.
- Investigators read priority_case_narratives.csv and forensic_case_register.csv.
- Auditors read evidence_matrix.csv to trace every signal back to its source rule.
- evidence_matrix.csv is long-format with 4 canonical fields: Evidence, Observed value, Interpretation, Forensic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- 5 stakeholder groups mapped to specific outputs: Trust &amp; Safety, Brand Protection, Product, Customer Service, Auditors.
- Trust &amp; Safety gets 50 priority cases out of 60,000 reviews — replaces manual triage.
- Each group consumes a different artifact tailored to its decision-making.
- Final caveat: forensic score is prioritization, not proof — every lead requires contextual validation.
- Outcome: structured, auditable forensic workflow turning 60,000 raw reviews into a 50-case priority queue with full reasoning attached.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DAA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6217920" cy="22159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lang="en-US" sz="1200" b="1" dirty="0">
                <a:solidFill>
                  <a:srgbClr val="1C7E84"/>
                </a:solidFill>
                <a:latin typeface="Bell MT" panose="02020503060305020303" pitchFamily="18" charset="0"/>
              </a:rPr>
              <a:t>RECOMMENDER SYSTEM – </a:t>
            </a:r>
            <a:r>
              <a:rPr sz="1200" b="1" dirty="0">
                <a:solidFill>
                  <a:srgbClr val="1C7E84"/>
                </a:solidFill>
                <a:latin typeface="Bell MT" panose="02020503060305020303" pitchFamily="18" charset="0"/>
              </a:rPr>
              <a:t>PROJECT</a:t>
            </a:r>
            <a:r>
              <a:rPr lang="en-US" sz="1200" b="1" dirty="0">
                <a:solidFill>
                  <a:srgbClr val="1C7E84"/>
                </a:solidFill>
                <a:latin typeface="Bell MT" panose="02020503060305020303" pitchFamily="18" charset="0"/>
              </a:rPr>
              <a:t> J COMPONENT</a:t>
            </a:r>
            <a:endParaRPr sz="1200" b="1" dirty="0">
              <a:solidFill>
                <a:srgbClr val="1C7E84"/>
              </a:solidFill>
              <a:latin typeface="Bell MT" panose="020205030603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7772400" cy="102181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lang="en-IN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AI-Driven Consumer Complaint Intelligence for E-Commerce Platforms</a:t>
            </a:r>
            <a:endParaRPr sz="3000" b="1" dirty="0">
              <a:solidFill>
                <a:srgbClr val="142D48"/>
              </a:solidFill>
              <a:latin typeface="Bell MT" panose="02020503060305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76656" y="2724912"/>
            <a:ext cx="7040880" cy="49859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b="0" dirty="0">
                <a:solidFill>
                  <a:srgbClr val="5F6E7C"/>
                </a:solidFill>
                <a:latin typeface="Bell MT" panose="02020503060305020303" pitchFamily="18" charset="0"/>
              </a:rPr>
              <a:t>A case study on 60,000 Amazon Electronics negative reviews — every signal paired with interpretation, alternative explanation, and investigative action.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3657600"/>
            <a:ext cx="914400" cy="54864"/>
          </a:xfrm>
          <a:prstGeom prst="rect">
            <a:avLst/>
          </a:prstGeom>
          <a:solidFill>
            <a:srgbClr val="DAA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6656" y="3950208"/>
            <a:ext cx="1097280" cy="19082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00" b="1">
                <a:solidFill>
                  <a:srgbClr val="1C7E84"/>
                </a:solidFill>
                <a:latin typeface="Bell MT" panose="02020503060305020303" pitchFamily="18" charset="0"/>
              </a:rPr>
              <a:t>AUTHORS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4233672"/>
            <a:ext cx="5029200" cy="23698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0">
                <a:solidFill>
                  <a:srgbClr val="283441"/>
                </a:solidFill>
                <a:latin typeface="Bell MT" panose="02020503060305020303" pitchFamily="18" charset="0"/>
              </a:rPr>
              <a:t>Priyanka S (23MIA1032)  •  Kavya N (23MIA1125)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4480560"/>
            <a:ext cx="1554480" cy="175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lang="en-US" sz="900" b="1" dirty="0">
                <a:solidFill>
                  <a:srgbClr val="5F6E7C"/>
                </a:solidFill>
                <a:latin typeface="Bell MT" panose="02020503060305020303" pitchFamily="18" charset="0"/>
              </a:rPr>
              <a:t>PROJECT REVIEW</a:t>
            </a:r>
            <a:endParaRPr sz="900" b="1" dirty="0">
              <a:solidFill>
                <a:srgbClr val="5F6E7C"/>
              </a:solidFill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828800" cy="175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1">
                <a:solidFill>
                  <a:srgbClr val="1C7E84"/>
                </a:solidFill>
                <a:latin typeface="Bell MT" panose="02020503060305020303" pitchFamily="18" charset="0"/>
              </a:rPr>
              <a:t>02  / 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29768"/>
            <a:ext cx="8275320" cy="3908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300" b="1">
                <a:solidFill>
                  <a:srgbClr val="142D48"/>
                </a:solidFill>
                <a:latin typeface="Bell MT" panose="02020503060305020303" pitchFamily="18" charset="0"/>
              </a:rPr>
              <a:t>Problem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950976"/>
            <a:ext cx="502920" cy="41148"/>
          </a:xfrm>
          <a:prstGeom prst="rect">
            <a:avLst/>
          </a:prstGeom>
          <a:solidFill>
            <a:srgbClr val="DAA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8028431" cy="3117777"/>
          </a:xfrm>
          <a:prstGeom prst="rect">
            <a:avLst/>
          </a:prstGeom>
          <a:noFill/>
        </p:spPr>
        <p:txBody>
          <a:bodyPr wrap="square" lIns="73152" tIns="36576" rIns="54864" bIns="18288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400" b="0">
                <a:solidFill>
                  <a:srgbClr val="283441"/>
                </a:solidFill>
                <a:latin typeface="Aptos"/>
              </a:defRPr>
            </a:pPr>
            <a:r>
              <a:rPr lang="en-IN" dirty="0">
                <a:latin typeface="Bell MT" panose="02020503060305020303" pitchFamily="18" charset="0"/>
              </a:rPr>
              <a:t>C</a:t>
            </a:r>
            <a:r>
              <a:rPr dirty="0" err="1">
                <a:latin typeface="Bell MT" panose="02020503060305020303" pitchFamily="18" charset="0"/>
              </a:rPr>
              <a:t>onsumer</a:t>
            </a:r>
            <a:r>
              <a:rPr dirty="0">
                <a:latin typeface="Bell MT" panose="02020503060305020303" pitchFamily="18" charset="0"/>
              </a:rPr>
              <a:t> complaint platforms carry potential fraud signals: fake reviews, image reuse, coordinated campaigns, seller fraud, and counterfeit listings.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400" b="0">
                <a:solidFill>
                  <a:srgbClr val="283441"/>
                </a:solidFill>
                <a:latin typeface="Aptos"/>
              </a:defRPr>
            </a:pPr>
            <a:r>
              <a:rPr dirty="0">
                <a:latin typeface="Bell MT" panose="02020503060305020303" pitchFamily="18" charset="0"/>
              </a:rPr>
              <a:t>Manual triage fails at scale — 60,000 negative reviews cannot be read one by one by a human investigator.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400" b="0">
                <a:solidFill>
                  <a:srgbClr val="283441"/>
                </a:solidFill>
                <a:latin typeface="Aptos"/>
              </a:defRPr>
            </a:pPr>
            <a:r>
              <a:rPr dirty="0">
                <a:latin typeface="Bell MT" panose="02020503060305020303" pitchFamily="18" charset="0"/>
              </a:rPr>
              <a:t>Naive score-only approaches over-claim: a high similarity or anomaly score does not prove misconduct.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400" b="0">
                <a:solidFill>
                  <a:srgbClr val="283441"/>
                </a:solidFill>
                <a:latin typeface="Aptos"/>
              </a:defRPr>
            </a:pPr>
            <a:r>
              <a:rPr dirty="0">
                <a:latin typeface="Bell MT" panose="02020503060305020303" pitchFamily="18" charset="0"/>
              </a:rPr>
              <a:t>The project frames the problem as forensic rather than predictive: signals are leads, not verdicts.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400" b="0">
                <a:solidFill>
                  <a:srgbClr val="283441"/>
                </a:solidFill>
                <a:latin typeface="Aptos"/>
              </a:defRPr>
            </a:pPr>
            <a:r>
              <a:rPr dirty="0">
                <a:latin typeface="Bell MT" panose="02020503060305020303" pitchFamily="18" charset="0"/>
              </a:rPr>
              <a:t>Every lead must carry its own interpretation, alternative explanation, and recommended next investigative action.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400" b="0">
                <a:solidFill>
                  <a:srgbClr val="283441"/>
                </a:solidFill>
                <a:latin typeface="Aptos"/>
              </a:defRPr>
            </a:pPr>
            <a:r>
              <a:rPr dirty="0">
                <a:latin typeface="Bell MT" panose="02020503060305020303" pitchFamily="18" charset="0"/>
              </a:rPr>
              <a:t>Scope chosen: Amazon Electronics category — high review volume, high image attach rate, active seller ecosystem.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400" b="0">
                <a:solidFill>
                  <a:srgbClr val="283441"/>
                </a:solidFill>
                <a:latin typeface="Aptos"/>
              </a:defRPr>
            </a:pPr>
            <a:r>
              <a:rPr dirty="0">
                <a:latin typeface="Bell MT" panose="02020503060305020303" pitchFamily="18" charset="0"/>
              </a:rPr>
              <a:t>Outcome goal: a prioritized case queue with transparent reasoning attached to each case.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828800" cy="175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1">
                <a:solidFill>
                  <a:srgbClr val="1C7E84"/>
                </a:solidFill>
                <a:latin typeface="Bell MT" panose="02020503060305020303" pitchFamily="18" charset="0"/>
              </a:rPr>
              <a:t>03  / 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29768"/>
            <a:ext cx="8275320" cy="3908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300" b="1">
                <a:solidFill>
                  <a:srgbClr val="142D48"/>
                </a:solidFill>
                <a:latin typeface="Bell MT" panose="02020503060305020303" pitchFamily="18" charset="0"/>
              </a:rPr>
              <a:t>Dataset 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950976"/>
            <a:ext cx="502920" cy="41148"/>
          </a:xfrm>
          <a:prstGeom prst="rect">
            <a:avLst/>
          </a:prstGeom>
          <a:solidFill>
            <a:srgbClr val="DAA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407355"/>
            <a:ext cx="8028431" cy="2686889"/>
          </a:xfrm>
          <a:prstGeom prst="rect">
            <a:avLst/>
          </a:prstGeom>
          <a:noFill/>
        </p:spPr>
        <p:txBody>
          <a:bodyPr wrap="square" lIns="73152" tIns="36576" rIns="54864" bIns="18288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400" b="0">
                <a:solidFill>
                  <a:srgbClr val="283441"/>
                </a:solidFill>
                <a:latin typeface="Aptos"/>
              </a:defRPr>
            </a:pPr>
            <a:r>
              <a:rPr dirty="0">
                <a:latin typeface="Bell MT" panose="02020503060305020303" pitchFamily="18" charset="0"/>
              </a:rPr>
              <a:t>Source: McAuley-Lab Amazon Reviews 2023 dataset, hosted on </a:t>
            </a:r>
            <a:r>
              <a:rPr dirty="0" err="1">
                <a:latin typeface="Bell MT" panose="02020503060305020303" pitchFamily="18" charset="0"/>
              </a:rPr>
              <a:t>HuggingFace</a:t>
            </a:r>
            <a:r>
              <a:rPr dirty="0">
                <a:latin typeface="Bell MT" panose="02020503060305020303" pitchFamily="18" charset="0"/>
              </a:rPr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400" b="0">
                <a:solidFill>
                  <a:srgbClr val="283441"/>
                </a:solidFill>
                <a:latin typeface="Aptos"/>
              </a:defRPr>
            </a:pPr>
            <a:r>
              <a:rPr dirty="0">
                <a:latin typeface="Bell MT" panose="02020503060305020303" pitchFamily="18" charset="0"/>
              </a:rPr>
              <a:t>URL endpoint: raw/</a:t>
            </a:r>
            <a:r>
              <a:rPr dirty="0" err="1">
                <a:latin typeface="Bell MT" panose="02020503060305020303" pitchFamily="18" charset="0"/>
              </a:rPr>
              <a:t>review_categories</a:t>
            </a:r>
            <a:r>
              <a:rPr dirty="0">
                <a:latin typeface="Bell MT" panose="02020503060305020303" pitchFamily="18" charset="0"/>
              </a:rPr>
              <a:t>/</a:t>
            </a:r>
            <a:r>
              <a:rPr dirty="0" err="1">
                <a:latin typeface="Bell MT" panose="02020503060305020303" pitchFamily="18" charset="0"/>
              </a:rPr>
              <a:t>Electronics.jsonl</a:t>
            </a:r>
            <a:r>
              <a:rPr dirty="0">
                <a:latin typeface="Bell MT" panose="02020503060305020303" pitchFamily="18" charset="0"/>
              </a:rPr>
              <a:t> — a streaming JSONL file.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400" b="0">
                <a:solidFill>
                  <a:srgbClr val="283441"/>
                </a:solidFill>
                <a:latin typeface="Aptos"/>
              </a:defRPr>
            </a:pPr>
            <a:r>
              <a:rPr dirty="0">
                <a:latin typeface="Bell MT" panose="02020503060305020303" pitchFamily="18" charset="0"/>
              </a:rPr>
              <a:t>Streaming collection: 467,845 reviews scanned in real time; no full download required.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400" b="0">
                <a:solidFill>
                  <a:srgbClr val="283441"/>
                </a:solidFill>
                <a:latin typeface="Aptos"/>
              </a:defRPr>
            </a:pPr>
            <a:r>
              <a:rPr dirty="0">
                <a:latin typeface="Bell MT" panose="02020503060305020303" pitchFamily="18" charset="0"/>
              </a:rPr>
              <a:t>Kept 60,000 reviews matching the negative filter (rating in [1, 2]) and text length &gt;= 20 characters.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400" b="0">
                <a:solidFill>
                  <a:srgbClr val="283441"/>
                </a:solidFill>
                <a:latin typeface="Aptos"/>
              </a:defRPr>
            </a:pPr>
            <a:r>
              <a:rPr dirty="0">
                <a:latin typeface="Bell MT" panose="02020503060305020303" pitchFamily="18" charset="0"/>
              </a:rPr>
              <a:t>Ten raw fields retained per review: rating, title, text, images, </a:t>
            </a:r>
            <a:r>
              <a:rPr dirty="0" err="1">
                <a:latin typeface="Bell MT" panose="02020503060305020303" pitchFamily="18" charset="0"/>
              </a:rPr>
              <a:t>asin</a:t>
            </a:r>
            <a:r>
              <a:rPr dirty="0">
                <a:latin typeface="Bell MT" panose="02020503060305020303" pitchFamily="18" charset="0"/>
              </a:rPr>
              <a:t>, </a:t>
            </a:r>
            <a:r>
              <a:rPr dirty="0" err="1">
                <a:latin typeface="Bell MT" panose="02020503060305020303" pitchFamily="18" charset="0"/>
              </a:rPr>
              <a:t>parent_asin</a:t>
            </a:r>
            <a:r>
              <a:rPr dirty="0">
                <a:latin typeface="Bell MT" panose="02020503060305020303" pitchFamily="18" charset="0"/>
              </a:rPr>
              <a:t>, </a:t>
            </a:r>
            <a:r>
              <a:rPr dirty="0" err="1">
                <a:latin typeface="Bell MT" panose="02020503060305020303" pitchFamily="18" charset="0"/>
              </a:rPr>
              <a:t>user_id</a:t>
            </a:r>
            <a:r>
              <a:rPr dirty="0">
                <a:latin typeface="Bell MT" panose="02020503060305020303" pitchFamily="18" charset="0"/>
              </a:rPr>
              <a:t>, timestamp, </a:t>
            </a:r>
            <a:r>
              <a:rPr dirty="0" err="1">
                <a:latin typeface="Bell MT" panose="02020503060305020303" pitchFamily="18" charset="0"/>
              </a:rPr>
              <a:t>verified_purchase</a:t>
            </a:r>
            <a:r>
              <a:rPr dirty="0">
                <a:latin typeface="Bell MT" panose="02020503060305020303" pitchFamily="18" charset="0"/>
              </a:rPr>
              <a:t>, </a:t>
            </a:r>
            <a:r>
              <a:rPr dirty="0" err="1">
                <a:latin typeface="Bell MT" panose="02020503060305020303" pitchFamily="18" charset="0"/>
              </a:rPr>
              <a:t>helpful_vote</a:t>
            </a:r>
            <a:r>
              <a:rPr dirty="0">
                <a:latin typeface="Bell MT" panose="02020503060305020303" pitchFamily="18" charset="0"/>
              </a:rPr>
              <a:t>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400" b="0">
                <a:solidFill>
                  <a:srgbClr val="283441"/>
                </a:solidFill>
                <a:latin typeface="Aptos"/>
              </a:defRPr>
            </a:pPr>
            <a:r>
              <a:rPr dirty="0">
                <a:latin typeface="Bell MT" panose="02020503060305020303" pitchFamily="18" charset="0"/>
              </a:rPr>
              <a:t>Local persistence: streamed records saved to </a:t>
            </a:r>
            <a:r>
              <a:rPr dirty="0" err="1">
                <a:latin typeface="Bell MT" panose="02020503060305020303" pitchFamily="18" charset="0"/>
              </a:rPr>
              <a:t>electronics_negative_reviews.jsonl</a:t>
            </a:r>
            <a:r>
              <a:rPr dirty="0">
                <a:latin typeface="Bell MT" panose="02020503060305020303" pitchFamily="18" charset="0"/>
              </a:rPr>
              <a:t> for full reproducibility.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400" b="0">
                <a:solidFill>
                  <a:srgbClr val="283441"/>
                </a:solidFill>
                <a:latin typeface="Aptos"/>
              </a:defRPr>
            </a:pPr>
            <a:r>
              <a:rPr dirty="0">
                <a:latin typeface="Bell MT" panose="02020503060305020303" pitchFamily="18" charset="0"/>
              </a:rPr>
              <a:t>Sample size chosen to balance statistical power against compute budget for downstream similarity and image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828800" cy="175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1">
                <a:solidFill>
                  <a:srgbClr val="1C7E84"/>
                </a:solidFill>
                <a:latin typeface="Bell MT" panose="02020503060305020303" pitchFamily="18" charset="0"/>
              </a:rPr>
              <a:t>04  / 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29768"/>
            <a:ext cx="8275320" cy="3908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300" b="1">
                <a:solidFill>
                  <a:srgbClr val="142D48"/>
                </a:solidFill>
                <a:latin typeface="Bell MT" panose="02020503060305020303" pitchFamily="18" charset="0"/>
              </a:rPr>
              <a:t>Pipeline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950976"/>
            <a:ext cx="502920" cy="41148"/>
          </a:xfrm>
          <a:prstGeom prst="rect">
            <a:avLst/>
          </a:prstGeom>
          <a:solidFill>
            <a:srgbClr val="DAA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1979" y="1099603"/>
            <a:ext cx="8375904" cy="3548664"/>
          </a:xfrm>
          <a:prstGeom prst="rect">
            <a:avLst/>
          </a:prstGeom>
          <a:noFill/>
        </p:spPr>
        <p:txBody>
          <a:bodyPr wrap="square" lIns="73152" tIns="36576" rIns="54864" bIns="18288">
            <a:spAutoFit/>
          </a:bodyPr>
          <a:lstStyle/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400" b="0">
                <a:solidFill>
                  <a:srgbClr val="283441"/>
                </a:solidFill>
                <a:latin typeface="Aptos"/>
              </a:defRPr>
            </a:pPr>
            <a:r>
              <a:rPr dirty="0">
                <a:latin typeface="Bell MT" panose="02020503060305020303" pitchFamily="18" charset="0"/>
              </a:rPr>
              <a:t>Standardize review table, extract image URLs, detect complaint categories via a 6-theme keyword dictionary (quality, delivery, seller, refund, performance, appearance).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400" b="0">
                <a:solidFill>
                  <a:srgbClr val="283441"/>
                </a:solidFill>
                <a:latin typeface="Aptos"/>
              </a:defRPr>
            </a:pPr>
            <a:r>
              <a:rPr dirty="0">
                <a:latin typeface="Bell MT" panose="02020503060305020303" pitchFamily="18" charset="0"/>
              </a:rPr>
              <a:t>Build reviewer-level and product-level behavior features (activity, rating ratios, complaint ratio, image ratio, product count, network degree).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400" b="0">
                <a:solidFill>
                  <a:srgbClr val="283441"/>
                </a:solidFill>
                <a:latin typeface="Aptos"/>
              </a:defRPr>
            </a:pPr>
            <a:r>
              <a:rPr dirty="0">
                <a:latin typeface="Bell MT" panose="02020503060305020303" pitchFamily="18" charset="0"/>
              </a:rPr>
              <a:t>Compute rating deviation from product mean and monthly burst ratio with a 3-month rolling median baseline.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400" b="0">
                <a:solidFill>
                  <a:srgbClr val="283441"/>
                </a:solidFill>
                <a:latin typeface="Aptos"/>
              </a:defRPr>
            </a:pPr>
            <a:r>
              <a:rPr dirty="0">
                <a:latin typeface="Bell MT" panose="02020503060305020303" pitchFamily="18" charset="0"/>
              </a:rPr>
              <a:t>Detect repeated review wording via TF-IDF + cosine Nearest Neighbors on a 20,000-review sampled subset.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400" b="0">
                <a:solidFill>
                  <a:srgbClr val="283441"/>
                </a:solidFill>
                <a:latin typeface="Aptos"/>
              </a:defRPr>
            </a:pPr>
            <a:r>
              <a:rPr dirty="0">
                <a:latin typeface="Bell MT" panose="02020503060305020303" pitchFamily="18" charset="0"/>
              </a:rPr>
              <a:t>Build the reviewer-product graph with </a:t>
            </a:r>
            <a:r>
              <a:rPr dirty="0" err="1">
                <a:latin typeface="Bell MT" panose="02020503060305020303" pitchFamily="18" charset="0"/>
              </a:rPr>
              <a:t>NetworkX</a:t>
            </a:r>
            <a:r>
              <a:rPr dirty="0">
                <a:latin typeface="Bell MT" panose="02020503060305020303" pitchFamily="18" charset="0"/>
              </a:rPr>
              <a:t> and run Isolation Forest anomaly detection on reviewer features.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400" b="0">
                <a:solidFill>
                  <a:srgbClr val="283441"/>
                </a:solidFill>
                <a:latin typeface="Aptos"/>
              </a:defRPr>
            </a:pPr>
            <a:r>
              <a:rPr dirty="0">
                <a:latin typeface="Bell MT" panose="02020503060305020303" pitchFamily="18" charset="0"/>
              </a:rPr>
              <a:t>Download a controlled image sample and run perceptual hashing (16x16 average hash, 256-bit) plus Hamming distance reuse detection.</a:t>
            </a:r>
          </a:p>
          <a:p>
            <a:pPr marL="285750" indent="-285750">
              <a:spcAft>
                <a:spcPts val="900"/>
              </a:spcAft>
              <a:buFont typeface="Arial" panose="020B0604020202020204" pitchFamily="34" charset="0"/>
              <a:buChar char="•"/>
              <a:defRPr sz="1400" b="0">
                <a:solidFill>
                  <a:srgbClr val="283441"/>
                </a:solidFill>
                <a:latin typeface="Aptos"/>
              </a:defRPr>
            </a:pPr>
            <a:r>
              <a:rPr dirty="0">
                <a:latin typeface="Bell MT" panose="02020503060305020303" pitchFamily="18" charset="0"/>
              </a:rPr>
              <a:t>Aggregate 12 transparent evidence components into a forensic signal score, then produce case narratives with alternatives and recommended actions.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828800" cy="175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1">
                <a:solidFill>
                  <a:srgbClr val="1C7E84"/>
                </a:solidFill>
                <a:latin typeface="Bell MT" panose="02020503060305020303" pitchFamily="18" charset="0"/>
              </a:rPr>
              <a:t>05  / 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29768"/>
            <a:ext cx="8275320" cy="3908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300" b="1">
                <a:solidFill>
                  <a:srgbClr val="142D48"/>
                </a:solidFill>
                <a:latin typeface="Bell MT" panose="02020503060305020303" pitchFamily="18" charset="0"/>
              </a:rPr>
              <a:t>Architecture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950976"/>
            <a:ext cx="502920" cy="41148"/>
          </a:xfrm>
          <a:prstGeom prst="rect">
            <a:avLst/>
          </a:prstGeom>
          <a:solidFill>
            <a:srgbClr val="DAA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8229600" cy="20621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0">
                <a:solidFill>
                  <a:srgbClr val="5F6E7C"/>
                </a:solidFill>
                <a:latin typeface="Bell MT" panose="02020503060305020303" pitchFamily="18" charset="0"/>
              </a:rPr>
              <a:t>Seven-stage workflow from raw reviews to an auditable, prioritized investigation queue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81328"/>
            <a:ext cx="1874519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tlCol="0" anchor="ctr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16304C"/>
                </a:solidFill>
                <a:latin typeface="Bell MT" panose="02020503060305020303" pitchFamily="18" charset="0"/>
              </a:rPr>
              <a:t>1. DATA SOURCE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283441"/>
                </a:solidFill>
                <a:latin typeface="Bell MT" panose="02020503060305020303" pitchFamily="18" charset="0"/>
              </a:rPr>
              <a:t>Amazon Reviews 2023
Electronics JSONL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15184" y="1481328"/>
            <a:ext cx="1874519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tlCol="0" anchor="ctr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16304C"/>
                </a:solidFill>
                <a:latin typeface="Bell MT" panose="02020503060305020303" pitchFamily="18" charset="0"/>
              </a:rPr>
              <a:t>2. STREAM &amp; FILTER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283441"/>
                </a:solidFill>
                <a:latin typeface="Bell MT" panose="02020503060305020303" pitchFamily="18" charset="0"/>
              </a:rPr>
              <a:t>467,845 scanned
60,000 negative reviews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73168" y="1481328"/>
            <a:ext cx="1874519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tlCol="0" anchor="ctr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16304C"/>
                </a:solidFill>
                <a:latin typeface="Bell MT" panose="02020503060305020303" pitchFamily="18" charset="0"/>
              </a:rPr>
              <a:t>3. STANDARDIZE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283441"/>
                </a:solidFill>
                <a:latin typeface="Bell MT" panose="02020503060305020303" pitchFamily="18" charset="0"/>
              </a:rPr>
              <a:t>Review table, image URLs
6 complaint themes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31152" y="1481328"/>
            <a:ext cx="1755648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A67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tlCol="0" anchor="ctr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16304C"/>
                </a:solidFill>
                <a:latin typeface="Bell MT" panose="02020503060305020303" pitchFamily="18" charset="0"/>
              </a:rPr>
              <a:t>4. FEATURE ENGINEERING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283441"/>
                </a:solidFill>
                <a:latin typeface="Bell MT" panose="02020503060305020303" pitchFamily="18" charset="0"/>
              </a:rPr>
              <a:t>Reviewer/product features
rating deviation, burst ratio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4596" y="2905475"/>
            <a:ext cx="1874519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41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tlCol="0" anchor="ctr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16304C"/>
                </a:solidFill>
                <a:latin typeface="Bell MT" panose="02020503060305020303" pitchFamily="18" charset="0"/>
              </a:rPr>
              <a:t>7. EVIDENCE SCORE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283441"/>
                </a:solidFill>
                <a:latin typeface="Bell MT" panose="02020503060305020303" pitchFamily="18" charset="0"/>
              </a:rPr>
              <a:t>12 components summed
priority tier assigned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2580" y="2905475"/>
            <a:ext cx="1874519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tlCol="0" anchor="ctr"/>
          <a:lstStyle/>
          <a:p>
            <a:pPr algn="ctr">
              <a:spcAft>
                <a:spcPts val="800"/>
              </a:spcAft>
            </a:pPr>
            <a:r>
              <a:rPr sz="1100" b="1">
                <a:solidFill>
                  <a:srgbClr val="16304C"/>
                </a:solidFill>
                <a:latin typeface="Bell MT" panose="02020503060305020303" pitchFamily="18" charset="0"/>
              </a:rPr>
              <a:t>6. IMAGE FORENSICS</a:t>
            </a:r>
          </a:p>
          <a:p>
            <a:pPr algn="ctr">
              <a:spcAft>
                <a:spcPts val="0"/>
              </a:spcAft>
            </a:pPr>
            <a:r>
              <a:rPr sz="1050" b="0">
                <a:solidFill>
                  <a:srgbClr val="283441"/>
                </a:solidFill>
                <a:latin typeface="Bell MT" panose="02020503060305020303" pitchFamily="18" charset="0"/>
              </a:rPr>
              <a:t>256-bit average hash
Hamming-distance reuse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60564" y="2905475"/>
            <a:ext cx="1874519" cy="10789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64008" rtlCol="0" anchor="ctr"/>
          <a:lstStyle/>
          <a:p>
            <a:pPr algn="ctr">
              <a:spcAft>
                <a:spcPts val="800"/>
              </a:spcAft>
            </a:pPr>
            <a:r>
              <a:rPr sz="1100" b="1" dirty="0">
                <a:solidFill>
                  <a:srgbClr val="16304C"/>
                </a:solidFill>
                <a:latin typeface="Bell MT" panose="02020503060305020303" pitchFamily="18" charset="0"/>
              </a:rPr>
              <a:t>5. DETECTION</a:t>
            </a:r>
          </a:p>
          <a:p>
            <a:pPr algn="ctr">
              <a:spcAft>
                <a:spcPts val="0"/>
              </a:spcAft>
            </a:pPr>
            <a:r>
              <a:rPr sz="1050" b="0" dirty="0">
                <a:solidFill>
                  <a:srgbClr val="283441"/>
                </a:solidFill>
                <a:latin typeface="Bell MT" panose="02020503060305020303" pitchFamily="18" charset="0"/>
              </a:rPr>
              <a:t>TF-IDF similarity
</a:t>
            </a:r>
            <a:r>
              <a:rPr sz="1050" b="0" dirty="0" err="1">
                <a:solidFill>
                  <a:srgbClr val="283441"/>
                </a:solidFill>
                <a:latin typeface="Bell MT" panose="02020503060305020303" pitchFamily="18" charset="0"/>
              </a:rPr>
              <a:t>NetworkX</a:t>
            </a:r>
            <a:r>
              <a:rPr sz="1050" b="0" dirty="0">
                <a:solidFill>
                  <a:srgbClr val="283441"/>
                </a:solidFill>
                <a:latin typeface="Bell MT" panose="02020503060305020303" pitchFamily="18" charset="0"/>
              </a:rPr>
              <a:t> + Isolation Forest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31720" y="2020824"/>
            <a:ext cx="246888" cy="0"/>
          </a:xfrm>
          <a:prstGeom prst="line">
            <a:avLst/>
          </a:prstGeom>
          <a:ln w="20320">
            <a:solidFill>
              <a:srgbClr val="5F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489704" y="2020824"/>
            <a:ext cx="246888" cy="0"/>
          </a:xfrm>
          <a:prstGeom prst="line">
            <a:avLst/>
          </a:prstGeom>
          <a:ln w="20320">
            <a:solidFill>
              <a:srgbClr val="5F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647688" y="2020824"/>
            <a:ext cx="246888" cy="0"/>
          </a:xfrm>
          <a:prstGeom prst="line">
            <a:avLst/>
          </a:prstGeom>
          <a:ln w="20320">
            <a:solidFill>
              <a:srgbClr val="5F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cxnSpLocks/>
          </p:cNvCxnSpPr>
          <p:nvPr/>
        </p:nvCxnSpPr>
        <p:spPr>
          <a:xfrm>
            <a:off x="7808975" y="2560320"/>
            <a:ext cx="0" cy="884651"/>
          </a:xfrm>
          <a:prstGeom prst="line">
            <a:avLst/>
          </a:prstGeom>
          <a:ln w="20320">
            <a:solidFill>
              <a:srgbClr val="5F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cxnSpLocks/>
            <a:endCxn id="12" idx="3"/>
          </p:cNvCxnSpPr>
          <p:nvPr/>
        </p:nvCxnSpPr>
        <p:spPr>
          <a:xfrm flipH="1">
            <a:off x="7235083" y="3444971"/>
            <a:ext cx="573892" cy="0"/>
          </a:xfrm>
          <a:prstGeom prst="line">
            <a:avLst/>
          </a:prstGeom>
          <a:ln w="20320">
            <a:solidFill>
              <a:srgbClr val="5F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cxnSpLocks/>
            <a:endCxn id="11" idx="3"/>
          </p:cNvCxnSpPr>
          <p:nvPr/>
        </p:nvCxnSpPr>
        <p:spPr>
          <a:xfrm flipH="1">
            <a:off x="5077099" y="3444971"/>
            <a:ext cx="283465" cy="0"/>
          </a:xfrm>
          <a:prstGeom prst="line">
            <a:avLst/>
          </a:prstGeom>
          <a:ln w="20320">
            <a:solidFill>
              <a:srgbClr val="5F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5488" y="4681728"/>
            <a:ext cx="8138160" cy="175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1">
                <a:solidFill>
                  <a:srgbClr val="1C7E84"/>
                </a:solidFill>
                <a:latin typeface="Bell MT" panose="02020503060305020303" pitchFamily="18" charset="0"/>
              </a:rPr>
              <a:t>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645152"/>
            <a:ext cx="7315200" cy="20621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100" b="0" dirty="0">
                <a:solidFill>
                  <a:srgbClr val="283441"/>
                </a:solidFill>
                <a:latin typeface="Bell MT" panose="02020503060305020303" pitchFamily="18" charset="0"/>
              </a:rPr>
              <a:t>Case register  •  Evidence matrix  •  Priority narratives  •  Population insights</a:t>
            </a:r>
          </a:p>
        </p:txBody>
      </p:sp>
      <p:cxnSp>
        <p:nvCxnSpPr>
          <p:cNvPr id="23" name="Connector 17">
            <a:extLst>
              <a:ext uri="{FF2B5EF4-FFF2-40B4-BE49-F238E27FC236}">
                <a16:creationId xmlns:a16="http://schemas.microsoft.com/office/drawing/2014/main" id="{1394E265-EC83-35BE-1986-1E1C076F4F8A}"/>
              </a:ext>
            </a:extLst>
          </p:cNvPr>
          <p:cNvCxnSpPr>
            <a:cxnSpLocks/>
          </p:cNvCxnSpPr>
          <p:nvPr/>
        </p:nvCxnSpPr>
        <p:spPr>
          <a:xfrm flipH="1">
            <a:off x="2919115" y="3444971"/>
            <a:ext cx="283465" cy="0"/>
          </a:xfrm>
          <a:prstGeom prst="line">
            <a:avLst/>
          </a:prstGeom>
          <a:ln w="20320">
            <a:solidFill>
              <a:srgbClr val="5F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828800" cy="175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1">
                <a:solidFill>
                  <a:srgbClr val="1C7E84"/>
                </a:solidFill>
                <a:latin typeface="Bell MT" panose="02020503060305020303" pitchFamily="18" charset="0"/>
              </a:rPr>
              <a:t>06  / 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29768"/>
            <a:ext cx="8275320" cy="3908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300" b="1">
                <a:solidFill>
                  <a:srgbClr val="142D48"/>
                </a:solidFill>
                <a:latin typeface="Bell MT" panose="02020503060305020303" pitchFamily="18" charset="0"/>
              </a:rPr>
              <a:t>Complaint Category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950976"/>
            <a:ext cx="502920" cy="41148"/>
          </a:xfrm>
          <a:prstGeom prst="rect">
            <a:avLst/>
          </a:prstGeom>
          <a:solidFill>
            <a:srgbClr val="DAA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17043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 dirty="0">
                <a:solidFill>
                  <a:srgbClr val="021C35"/>
                </a:solidFill>
                <a:latin typeface="Bell MT" panose="02020503060305020303" pitchFamily="18" charset="0"/>
              </a:rPr>
              <a:t>6 THEMES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21C35"/>
                </a:solidFill>
                <a:latin typeface="Bell MT" panose="02020503060305020303" pitchFamily="18" charset="0"/>
              </a:rPr>
              <a:t>Quality · Delivery · Seller
Refund · Performance · Appearance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1728" y="117043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 dirty="0">
                <a:solidFill>
                  <a:srgbClr val="021C35"/>
                </a:solidFill>
                <a:latin typeface="Bell MT" panose="02020503060305020303" pitchFamily="18" charset="0"/>
              </a:rPr>
              <a:t>HOW IT WORKS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21C35"/>
                </a:solidFill>
                <a:latin typeface="Bell MT" panose="02020503060305020303" pitchFamily="18" charset="0"/>
              </a:rPr>
              <a:t>Keyword dictionary tags each review. A review can match more than one theme.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79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 dirty="0">
                <a:solidFill>
                  <a:srgbClr val="021C35"/>
                </a:solidFill>
                <a:latin typeface="Bell MT" panose="02020503060305020303" pitchFamily="18" charset="0"/>
              </a:rPr>
              <a:t>OUTPUT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21C35"/>
                </a:solidFill>
                <a:latin typeface="Bell MT" panose="02020503060305020303" pitchFamily="18" charset="0"/>
              </a:rPr>
              <a:t>Complaint summary ranked by category frequency.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1728" y="290779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 dirty="0">
                <a:solidFill>
                  <a:srgbClr val="021C35"/>
                </a:solidFill>
                <a:latin typeface="Bell MT" panose="02020503060305020303" pitchFamily="18" charset="0"/>
              </a:rPr>
              <a:t>WHY IT MATTERS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21C35"/>
                </a:solidFill>
                <a:latin typeface="Bell MT" panose="02020503060305020303" pitchFamily="18" charset="0"/>
              </a:rPr>
              <a:t>Complaint breadth contributes to the forensic score (capped at 3).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828800" cy="175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1">
                <a:solidFill>
                  <a:srgbClr val="1C7E84"/>
                </a:solidFill>
                <a:latin typeface="Bell MT" panose="02020503060305020303" pitchFamily="18" charset="0"/>
              </a:rPr>
              <a:t>07  / 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29768"/>
            <a:ext cx="8275320" cy="3908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300" b="1">
                <a:solidFill>
                  <a:srgbClr val="142D48"/>
                </a:solidFill>
                <a:latin typeface="Bell MT" panose="02020503060305020303" pitchFamily="18" charset="0"/>
              </a:rPr>
              <a:t>Reviewer &amp; Product Behavior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950976"/>
            <a:ext cx="502920" cy="41148"/>
          </a:xfrm>
          <a:prstGeom prst="rect">
            <a:avLst/>
          </a:prstGeom>
          <a:solidFill>
            <a:srgbClr val="DAA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17043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 dirty="0">
                <a:solidFill>
                  <a:srgbClr val="021C35"/>
                </a:solidFill>
                <a:latin typeface="Bell MT" panose="02020503060305020303" pitchFamily="18" charset="0"/>
              </a:rPr>
              <a:t>REVIEWER PROFILE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21C35"/>
                </a:solidFill>
                <a:latin typeface="Bell MT" panose="02020503060305020303" pitchFamily="18" charset="0"/>
              </a:rPr>
              <a:t>Activity, rating ratios, complaint/image ratios, product count and helpful votes.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1728" y="117043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>
                <a:solidFill>
                  <a:srgbClr val="021C35"/>
                </a:solidFill>
                <a:latin typeface="Bell MT" panose="02020503060305020303" pitchFamily="18" charset="0"/>
              </a:rPr>
              <a:t>PRODUCT PROFILE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21C35"/>
                </a:solidFill>
                <a:latin typeface="Bell MT" panose="02020503060305020303" pitchFamily="18" charset="0"/>
              </a:rPr>
              <a:t>Review volume, average rating, complaint/image ratios and reviewer count.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79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>
                <a:solidFill>
                  <a:srgbClr val="021C35"/>
                </a:solidFill>
                <a:latin typeface="Bell MT" panose="02020503060305020303" pitchFamily="18" charset="0"/>
              </a:rPr>
              <a:t>ACTIVITY TIERS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21C35"/>
                </a:solidFill>
                <a:latin typeface="Bell MT" panose="02020503060305020303" pitchFamily="18" charset="0"/>
              </a:rPr>
              <a:t>Very low: 1 · Low: 2–5
Moderate: 6–20 · High: 20+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1728" y="290779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>
                <a:solidFill>
                  <a:srgbClr val="021C35"/>
                </a:solidFill>
                <a:latin typeface="Bell MT" panose="02020503060305020303" pitchFamily="18" charset="0"/>
              </a:rPr>
              <a:t>INVESTIGATIVE USE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21C35"/>
                </a:solidFill>
                <a:latin typeface="Bell MT" panose="02020503060305020303" pitchFamily="18" charset="0"/>
              </a:rPr>
              <a:t>Compare negative behaviour with normal activity; network degree adds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828800" cy="175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1">
                <a:solidFill>
                  <a:srgbClr val="1C7E84"/>
                </a:solidFill>
                <a:latin typeface="Bell MT" panose="02020503060305020303" pitchFamily="18" charset="0"/>
              </a:rPr>
              <a:t>08  / 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29768"/>
            <a:ext cx="8275320" cy="3908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300" b="1">
                <a:solidFill>
                  <a:srgbClr val="142D48"/>
                </a:solidFill>
                <a:latin typeface="Bell MT" panose="02020503060305020303" pitchFamily="18" charset="0"/>
              </a:rPr>
              <a:t>Rating Deviation &amp; Temporal Burst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950976"/>
            <a:ext cx="502920" cy="41148"/>
          </a:xfrm>
          <a:prstGeom prst="rect">
            <a:avLst/>
          </a:prstGeom>
          <a:solidFill>
            <a:srgbClr val="DAA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170432"/>
            <a:ext cx="3886200" cy="1417320"/>
          </a:xfrm>
          <a:prstGeom prst="roundRect">
            <a:avLst/>
          </a:prstGeom>
          <a:solidFill>
            <a:srgbClr val="0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/>
            <a:r>
              <a:rPr b="1" dirty="0">
                <a:solidFill>
                  <a:srgbClr val="E2C22B"/>
                </a:solidFill>
                <a:latin typeface="Bell MT" panose="02020503060305020303" pitchFamily="18" charset="0"/>
              </a:rPr>
              <a:t>| Review rating − Product</a:t>
            </a:r>
            <a:r>
              <a:rPr lang="en-US" b="1" dirty="0">
                <a:solidFill>
                  <a:srgbClr val="E2C22B"/>
                </a:solidFill>
                <a:latin typeface="Bell MT" panose="02020503060305020303" pitchFamily="18" charset="0"/>
              </a:rPr>
              <a:t> </a:t>
            </a:r>
            <a:r>
              <a:rPr b="1" dirty="0">
                <a:solidFill>
                  <a:srgbClr val="E2C22B"/>
                </a:solidFill>
                <a:latin typeface="Bell MT" panose="02020503060305020303" pitchFamily="18" charset="0"/>
              </a:rPr>
              <a:t>mean rating |</a:t>
            </a:r>
          </a:p>
          <a:p>
            <a:pPr algn="ctr"/>
            <a:endParaRPr lang="en-US" sz="1000" dirty="0">
              <a:solidFill>
                <a:srgbClr val="FFFFFF"/>
              </a:solidFill>
              <a:latin typeface="Bell MT" panose="02020503060305020303" pitchFamily="18" charset="0"/>
            </a:endParaRPr>
          </a:p>
          <a:p>
            <a:pPr algn="ctr"/>
            <a:r>
              <a:rPr sz="1000" dirty="0">
                <a:solidFill>
                  <a:srgbClr val="FFFFFF"/>
                </a:solidFill>
                <a:latin typeface="Bell MT" panose="02020503060305020303" pitchFamily="18" charset="0"/>
              </a:rPr>
              <a:t>RATING DEVIATION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1728" y="117043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>
                <a:solidFill>
                  <a:srgbClr val="021C35"/>
                </a:solidFill>
                <a:latin typeface="Bell MT" panose="02020503060305020303" pitchFamily="18" charset="0"/>
              </a:rPr>
              <a:t>INTERPRETATION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21C35"/>
                </a:solidFill>
                <a:latin typeface="Bell MT" panose="02020503060305020303" pitchFamily="18" charset="0"/>
              </a:rPr>
              <a:t>Deviation ≥ 2 stars flags an outlier for review—not proof of a fake rating.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907792"/>
            <a:ext cx="3886200" cy="1417320"/>
          </a:xfrm>
          <a:prstGeom prst="roundRect">
            <a:avLst/>
          </a:prstGeom>
          <a:solidFill>
            <a:srgbClr val="0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rIns="137160" rtlCol="0" anchor="ctr"/>
          <a:lstStyle/>
          <a:p>
            <a:pPr algn="ctr"/>
            <a:r>
              <a:rPr b="1" dirty="0">
                <a:solidFill>
                  <a:srgbClr val="E2C22B"/>
                </a:solidFill>
                <a:latin typeface="Bell MT" panose="02020503060305020303" pitchFamily="18" charset="0"/>
              </a:rPr>
              <a:t>Monthly negative reviews ÷ 3-month rolling median baseline</a:t>
            </a:r>
          </a:p>
          <a:p>
            <a:pPr algn="ctr"/>
            <a:endParaRPr lang="en-US" sz="1000" dirty="0">
              <a:solidFill>
                <a:srgbClr val="FFFFFF"/>
              </a:solidFill>
              <a:latin typeface="Bell MT" panose="02020503060305020303" pitchFamily="18" charset="0"/>
            </a:endParaRPr>
          </a:p>
          <a:p>
            <a:pPr algn="ctr"/>
            <a:r>
              <a:rPr sz="1000" dirty="0">
                <a:solidFill>
                  <a:srgbClr val="FFFFFF"/>
                </a:solidFill>
                <a:latin typeface="Bell MT" panose="02020503060305020303" pitchFamily="18" charset="0"/>
              </a:rPr>
              <a:t>BURST RATIO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1728" y="290779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>
                <a:solidFill>
                  <a:srgbClr val="021C35"/>
                </a:solidFill>
                <a:latin typeface="Bell MT" panose="02020503060305020303" pitchFamily="18" charset="0"/>
              </a:rPr>
              <a:t>BURST THRESHOLDS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21C35"/>
                </a:solidFill>
                <a:latin typeface="Bell MT" panose="02020503060305020303" pitchFamily="18" charset="0"/>
              </a:rPr>
              <a:t>≥ 1.5 = moderate concentration
≥ 3 = strong concentration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828800" cy="175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1">
                <a:solidFill>
                  <a:srgbClr val="1C7E84"/>
                </a:solidFill>
                <a:latin typeface="Bell MT" panose="02020503060305020303" pitchFamily="18" charset="0"/>
              </a:rPr>
              <a:t>09  / 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29768"/>
            <a:ext cx="8275320" cy="3908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300" b="1">
                <a:solidFill>
                  <a:srgbClr val="142D48"/>
                </a:solidFill>
                <a:latin typeface="Bell MT" panose="02020503060305020303" pitchFamily="18" charset="0"/>
              </a:rPr>
              <a:t>Text Similarity — Repeated Review Wording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950976"/>
            <a:ext cx="502920" cy="41148"/>
          </a:xfrm>
          <a:prstGeom prst="rect">
            <a:avLst/>
          </a:prstGeom>
          <a:solidFill>
            <a:srgbClr val="DAA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17043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>
                <a:solidFill>
                  <a:srgbClr val="021C35"/>
                </a:solidFill>
                <a:latin typeface="Bell MT" panose="02020503060305020303" pitchFamily="18" charset="0"/>
              </a:rPr>
              <a:t>DATA USED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21C35"/>
                </a:solidFill>
                <a:latin typeface="Bell MT" panose="02020503060305020303" pitchFamily="18" charset="0"/>
              </a:rPr>
              <a:t>20,000-review sample from the 60,000-review population.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1728" y="117043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>
                <a:solidFill>
                  <a:srgbClr val="021C35"/>
                </a:solidFill>
                <a:latin typeface="Bell MT" panose="02020503060305020303" pitchFamily="18" charset="0"/>
              </a:rPr>
              <a:t>TEXT FEATURES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21C35"/>
                </a:solidFill>
                <a:latin typeface="Bell MT" panose="02020503060305020303" pitchFamily="18" charset="0"/>
              </a:rPr>
              <a:t>TF-IDF · English stopwords · 12,000 max features · 1–2 grams · min_df =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79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>
                <a:solidFill>
                  <a:srgbClr val="021C35"/>
                </a:solidFill>
                <a:latin typeface="Bell MT" panose="02020503060305020303" pitchFamily="18" charset="0"/>
              </a:rPr>
              <a:t>MATCHING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21C35"/>
                </a:solidFill>
                <a:latin typeface="Bell MT" panose="02020503060305020303" pitchFamily="18" charset="0"/>
              </a:rPr>
              <a:t>Cosine Nearest Neighbors (k = 2); save the closest review ID for traceability.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1728" y="290779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 dirty="0">
                <a:solidFill>
                  <a:srgbClr val="021C35"/>
                </a:solidFill>
                <a:latin typeface="Bell MT" panose="02020503060305020303" pitchFamily="18" charset="0"/>
              </a:rPr>
              <a:t>SIMILARITY GUIDE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21C35"/>
                </a:solidFill>
                <a:latin typeface="Bell MT" panose="02020503060305020303" pitchFamily="18" charset="0"/>
              </a:rPr>
              <a:t>≥ 0.90 Very high</a:t>
            </a:r>
            <a:r>
              <a:rPr lang="en-US" sz="1400" dirty="0">
                <a:solidFill>
                  <a:srgbClr val="021C35"/>
                </a:solidFill>
                <a:latin typeface="Bell MT" panose="02020503060305020303" pitchFamily="18" charset="0"/>
              </a:rPr>
              <a:t>,</a:t>
            </a:r>
            <a:r>
              <a:rPr sz="1400" dirty="0">
                <a:solidFill>
                  <a:srgbClr val="021C35"/>
                </a:solidFill>
                <a:latin typeface="Bell MT" panose="02020503060305020303" pitchFamily="18" charset="0"/>
              </a:rPr>
              <a:t> ≥ 0.75 High</a:t>
            </a:r>
            <a:r>
              <a:rPr lang="en-US" sz="1400" dirty="0">
                <a:solidFill>
                  <a:srgbClr val="021C35"/>
                </a:solidFill>
                <a:latin typeface="Bell MT" panose="02020503060305020303" pitchFamily="18" charset="0"/>
              </a:rPr>
              <a:t>,</a:t>
            </a:r>
            <a:r>
              <a:rPr sz="1400" dirty="0">
                <a:solidFill>
                  <a:srgbClr val="021C35"/>
                </a:solidFill>
                <a:latin typeface="Bell MT" panose="02020503060305020303" pitchFamily="18" charset="0"/>
              </a:rPr>
              <a:t>  ≥ 0.55 Moderate</a:t>
            </a:r>
            <a:r>
              <a:rPr lang="en-US" sz="1400" dirty="0">
                <a:solidFill>
                  <a:srgbClr val="021C35"/>
                </a:solidFill>
                <a:latin typeface="Bell MT" panose="02020503060305020303" pitchFamily="18" charset="0"/>
              </a:rPr>
              <a:t>, </a:t>
            </a:r>
            <a:r>
              <a:rPr sz="1400" dirty="0">
                <a:solidFill>
                  <a:srgbClr val="021C35"/>
                </a:solidFill>
                <a:latin typeface="Bell MT" panose="02020503060305020303" pitchFamily="18" charset="0"/>
              </a:rPr>
              <a:t>Below 0.55 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828800" cy="175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1">
                <a:solidFill>
                  <a:srgbClr val="1C7E84"/>
                </a:solidFill>
                <a:latin typeface="Bell MT" panose="02020503060305020303" pitchFamily="18" charset="0"/>
              </a:rPr>
              <a:t>10  / 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29768"/>
            <a:ext cx="8275320" cy="3908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300" b="1">
                <a:solidFill>
                  <a:srgbClr val="142D48"/>
                </a:solidFill>
                <a:latin typeface="Bell MT" panose="02020503060305020303" pitchFamily="18" charset="0"/>
              </a:rPr>
              <a:t>Reviewer-Product Network &amp; Anomaly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950976"/>
            <a:ext cx="502920" cy="41148"/>
          </a:xfrm>
          <a:prstGeom prst="rect">
            <a:avLst/>
          </a:prstGeom>
          <a:solidFill>
            <a:srgbClr val="DAA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17043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>
                <a:solidFill>
                  <a:srgbClr val="021C35"/>
                </a:solidFill>
                <a:latin typeface="Bell MT" panose="02020503060305020303" pitchFamily="18" charset="0"/>
              </a:rPr>
              <a:t>REVIEWER–PRODUCT GRAPH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21C35"/>
                </a:solidFill>
                <a:latin typeface="Bell MT" panose="02020503060305020303" pitchFamily="18" charset="0"/>
              </a:rPr>
              <a:t>Reviewer nodes (U_) connect to product nodes (P_) through review edges.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1728" y="117043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>
                <a:solidFill>
                  <a:srgbClr val="021C35"/>
                </a:solidFill>
                <a:latin typeface="Bell MT" panose="02020503060305020303" pitchFamily="18" charset="0"/>
              </a:rPr>
              <a:t>ANOMALY FEATURES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21C35"/>
                </a:solidFill>
                <a:latin typeface="Bell MT" panose="02020503060305020303" pitchFamily="18" charset="0"/>
              </a:rPr>
              <a:t>10 reviewer signals, including activity, negative ratio, complaints, images and network degree.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79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>
                <a:solidFill>
                  <a:srgbClr val="021C35"/>
                </a:solidFill>
                <a:latin typeface="Bell MT" panose="02020503060305020303" pitchFamily="18" charset="0"/>
              </a:rPr>
              <a:t>MODEL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21C35"/>
                </a:solidFill>
                <a:latin typeface="Bell MT" panose="02020503060305020303" pitchFamily="18" charset="0"/>
              </a:rPr>
              <a:t>StandardScaler → Isolation Forest (200 trees; random_state = 42).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1728" y="290779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 dirty="0">
                <a:solidFill>
                  <a:srgbClr val="021C35"/>
                </a:solidFill>
                <a:latin typeface="Bell MT" panose="02020503060305020303" pitchFamily="18" charset="0"/>
              </a:rPr>
              <a:t>FLAG THRESHOLDS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021C35"/>
                </a:solidFill>
                <a:latin typeface="Bell MT" panose="02020503060305020303" pitchFamily="18" charset="0"/>
              </a:rPr>
              <a:t>≥ 90th percentile: examine</a:t>
            </a:r>
            <a:r>
              <a:rPr lang="en-US" sz="1400" dirty="0">
                <a:solidFill>
                  <a:srgbClr val="021C35"/>
                </a:solidFill>
                <a:latin typeface="Bell MT" panose="02020503060305020303" pitchFamily="18" charset="0"/>
              </a:rPr>
              <a:t>, </a:t>
            </a:r>
            <a:r>
              <a:rPr sz="1400" dirty="0">
                <a:solidFill>
                  <a:srgbClr val="021C35"/>
                </a:solidFill>
                <a:latin typeface="Bell MT" panose="02020503060305020303" pitchFamily="18" charset="0"/>
              </a:rPr>
              <a:t> ≥ 97: extremely unusual</a:t>
            </a:r>
            <a:r>
              <a:rPr lang="en-US" sz="1400" dirty="0">
                <a:solidFill>
                  <a:srgbClr val="021C35"/>
                </a:solidFill>
                <a:latin typeface="Bell MT" panose="02020503060305020303" pitchFamily="18" charset="0"/>
              </a:rPr>
              <a:t>. </a:t>
            </a:r>
            <a:r>
              <a:rPr sz="1400" dirty="0">
                <a:solidFill>
                  <a:srgbClr val="021C35"/>
                </a:solidFill>
                <a:latin typeface="Bell MT" panose="02020503060305020303" pitchFamily="18" charset="0"/>
              </a:rPr>
              <a:t>Anomaly means unusual—not fraudulent.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828800" cy="175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1">
                <a:solidFill>
                  <a:srgbClr val="1C7E84"/>
                </a:solidFill>
                <a:latin typeface="Bell MT" panose="02020503060305020303" pitchFamily="18" charset="0"/>
              </a:rPr>
              <a:t>11  / 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29768"/>
            <a:ext cx="8275320" cy="3908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300" b="1">
                <a:solidFill>
                  <a:srgbClr val="142D48"/>
                </a:solidFill>
                <a:latin typeface="Bell MT" panose="02020503060305020303" pitchFamily="18" charset="0"/>
              </a:rPr>
              <a:t>Image Forensics — Perceptual Hashing &amp; Reuse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950976"/>
            <a:ext cx="502920" cy="41148"/>
          </a:xfrm>
          <a:prstGeom prst="rect">
            <a:avLst/>
          </a:prstGeom>
          <a:solidFill>
            <a:srgbClr val="DAA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17043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>
                <a:solidFill>
                  <a:srgbClr val="021C35"/>
                </a:solidFill>
                <a:latin typeface="Bell MT" panose="02020503060305020303" pitchFamily="18" charset="0"/>
              </a:rPr>
              <a:t>IMAGE SAMPLE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21C35"/>
                </a:solidFill>
                <a:latin typeface="Bell MT" panose="02020503060305020303" pitchFamily="18" charset="0"/>
              </a:rPr>
              <a:t>Up to 300 image cases; maximum 3 images per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1728" y="117043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>
                <a:solidFill>
                  <a:srgbClr val="021C35"/>
                </a:solidFill>
                <a:latin typeface="Bell MT" panose="02020503060305020303" pitchFamily="18" charset="0"/>
              </a:rPr>
              <a:t>PERCEPTUAL HASH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21C35"/>
                </a:solidFill>
                <a:latin typeface="Bell MT" panose="02020503060305020303" pitchFamily="18" charset="0"/>
              </a:rPr>
              <a:t>Grayscale → resize to 16 × 16 → mean threshold → 256-bit hash.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79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>
                <a:solidFill>
                  <a:srgbClr val="021C35"/>
                </a:solidFill>
                <a:latin typeface="Bell MT" panose="02020503060305020303" pitchFamily="18" charset="0"/>
              </a:rPr>
              <a:t>REUSE RULE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21C35"/>
                </a:solidFill>
                <a:latin typeface="Bell MT" panose="02020503060305020303" pitchFamily="18" charset="0"/>
              </a:rPr>
              <a:t>Hamming distance ≤ 12 / 256 bits (about 95% bit similarity) flags a possible match.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1728" y="290779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>
                <a:solidFill>
                  <a:srgbClr val="021C35"/>
                </a:solidFill>
                <a:latin typeface="Bell MT" panose="02020503060305020303" pitchFamily="18" charset="0"/>
              </a:rPr>
              <a:t>VALIDATION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21C35"/>
                </a:solidFill>
                <a:latin typeface="Bell MT" panose="02020503060305020303" pitchFamily="18" charset="0"/>
              </a:rPr>
              <a:t>Inspect originals: legitimate images of the same product may also match.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828800" cy="175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1">
                <a:solidFill>
                  <a:srgbClr val="1C7E84"/>
                </a:solidFill>
                <a:latin typeface="Bell MT" panose="02020503060305020303" pitchFamily="18" charset="0"/>
              </a:rPr>
              <a:t>12  / 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29768"/>
            <a:ext cx="8275320" cy="3908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300" b="1">
                <a:solidFill>
                  <a:srgbClr val="142D48"/>
                </a:solidFill>
                <a:latin typeface="Bell MT" panose="02020503060305020303" pitchFamily="18" charset="0"/>
              </a:rPr>
              <a:t>Transparent Evidence Scoring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950976"/>
            <a:ext cx="502920" cy="41148"/>
          </a:xfrm>
          <a:prstGeom prst="rect">
            <a:avLst/>
          </a:prstGeom>
          <a:solidFill>
            <a:srgbClr val="DAA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17043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>
                <a:solidFill>
                  <a:srgbClr val="021C35"/>
                </a:solidFill>
                <a:latin typeface="Bell MT" panose="02020503060305020303" pitchFamily="18" charset="0"/>
              </a:rPr>
              <a:t>12 EVIDENCE COMPONENTS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21C35"/>
                </a:solidFill>
                <a:latin typeface="Bell MT" panose="02020503060305020303" pitchFamily="18" charset="0"/>
              </a:rPr>
              <a:t>Rating · Complaint · Image · Unverified · Deviation · Activity · Negative behaviour · Text repetition · Temporal · Network · Anomaly · Image reuse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1728" y="117043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>
                <a:solidFill>
                  <a:srgbClr val="021C35"/>
                </a:solidFill>
                <a:latin typeface="Bell MT" panose="02020503060305020303" pitchFamily="18" charset="0"/>
              </a:rPr>
              <a:t>TOTAL SCORE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21C35"/>
                </a:solidFill>
                <a:latin typeface="Bell MT" panose="02020503060305020303" pitchFamily="18" charset="0"/>
              </a:rPr>
              <a:t>Sum of the 12 transparent component scores; approximately 0–20.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79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>
                <a:solidFill>
                  <a:srgbClr val="021C35"/>
                </a:solidFill>
                <a:latin typeface="Bell MT" panose="02020503060305020303" pitchFamily="18" charset="0"/>
              </a:rPr>
              <a:t>PRIORITY BANDS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21C35"/>
                </a:solidFill>
                <a:latin typeface="Bell MT" panose="02020503060305020303" pitchFamily="18" charset="0"/>
              </a:rPr>
              <a:t>0–5 Routine  |  6–9 Contextual  |  10+ High priority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1728" y="290779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>
                <a:solidFill>
                  <a:srgbClr val="021C35"/>
                </a:solidFill>
                <a:latin typeface="Bell MT" panose="02020503060305020303" pitchFamily="18" charset="0"/>
              </a:rPr>
              <a:t>WORKING QUEUE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21C35"/>
                </a:solidFill>
                <a:latin typeface="Bell MT" panose="02020503060305020303" pitchFamily="18" charset="0"/>
              </a:rPr>
              <a:t>Top 50 cases by score; anomaly percentile breaks ties. Score prioritizes review, it does not prove misconduct.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28600"/>
            <a:ext cx="8636000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900">
                <a:solidFill>
                  <a:srgbClr val="1C7E84"/>
                </a:solidFill>
                <a:latin typeface="Aptos"/>
              </a:defRPr>
            </a:pPr>
            <a:r>
              <a:rPr lang="en-US" sz="800" b="1" kern="0" spc="88" dirty="0">
                <a:solidFill>
                  <a:srgbClr val="C0392B"/>
                </a:solidFill>
                <a:latin typeface="Bell MT" panose="02020503060305020303" pitchFamily="18" charset="0"/>
                <a:ea typeface="Liberation Sans Narrow" pitchFamily="34" charset="-122"/>
                <a:cs typeface="Liberation Sans Narrow" pitchFamily="34" charset="-120"/>
              </a:rPr>
              <a:t>13 / 17</a:t>
            </a:r>
            <a:endParaRPr lang="en-US" sz="800" dirty="0">
              <a:latin typeface="Bell MT" panose="020205030603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900" y="435769"/>
            <a:ext cx="8636000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8"/>
              </a:lnSpc>
              <a:buNone/>
              <a:defRPr sz="2200" b="1">
                <a:solidFill>
                  <a:srgbClr val="142D48"/>
                </a:solidFill>
                <a:latin typeface="Aptos Display"/>
              </a:defRPr>
            </a:pPr>
            <a:r>
              <a:rPr lang="en-US" sz="2138" b="1" kern="0" spc="-21" dirty="0">
                <a:solidFill>
                  <a:srgbClr val="1A1A1A"/>
                </a:solidFill>
                <a:latin typeface="Bell MT" panose="02020503060305020303" pitchFamily="18" charset="0"/>
                <a:ea typeface="Liberation Sans" pitchFamily="34" charset="-122"/>
                <a:cs typeface="Liberation Sans" pitchFamily="34" charset="-120"/>
              </a:rPr>
              <a:t>Output Graphs — Detection Signals</a:t>
            </a:r>
            <a:endParaRPr lang="en-US" sz="2138" dirty="0">
              <a:latin typeface="Bell MT" panose="020205030603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2900" y="876449"/>
            <a:ext cx="571500" cy="28575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Bell MT" panose="02020503060305020303" pitchFamily="18" charset="0"/>
            </a:endParaRPr>
          </a:p>
        </p:txBody>
      </p:sp>
      <p:pic>
        <p:nvPicPr>
          <p:cNvPr id="5" name="Image 0" descr="/tmp/h2p-fit-1792325788766-2dg4y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3383280" cy="1508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63340" y="2785281"/>
            <a:ext cx="215250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14"/>
              </a:lnSpc>
              <a:buNone/>
            </a:pPr>
            <a:r>
              <a:rPr lang="en-US" sz="950" b="0" dirty="0">
                <a:solidFill>
                  <a:srgbClr val="5F6E7C"/>
                </a:solidFill>
                <a:latin typeface="Bell MT" panose="02020503060305020303" pitchFamily="18" charset="0"/>
                <a:ea typeface="Liberation Sans" pitchFamily="34" charset="-122"/>
                <a:cs typeface="Liberation Sans" pitchFamily="34" charset="-120"/>
              </a:rPr>
              <a:t>Complaint category distribution (Quality is dominant)</a:t>
            </a:r>
            <a:endParaRPr lang="en-US" sz="731" dirty="0">
              <a:latin typeface="Bell MT" panose="02020503060305020303" pitchFamily="18" charset="0"/>
            </a:endParaRPr>
          </a:p>
        </p:txBody>
      </p:sp>
      <p:pic>
        <p:nvPicPr>
          <p:cNvPr id="7" name="Image 1" descr="/tmp/h2p-fit-1792325788785-v3eit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143000"/>
            <a:ext cx="3383280" cy="1508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64245" y="2785281"/>
            <a:ext cx="228021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14"/>
              </a:lnSpc>
              <a:buNone/>
            </a:pPr>
            <a:r>
              <a:rPr lang="en-US" sz="950" b="0" dirty="0">
                <a:solidFill>
                  <a:srgbClr val="5F6E7C"/>
                </a:solidFill>
                <a:latin typeface="Bell MT" panose="02020503060305020303" pitchFamily="18" charset="0"/>
                <a:ea typeface="Liberation Sans" pitchFamily="34" charset="-122"/>
                <a:cs typeface="Liberation Sans" pitchFamily="34" charset="-120"/>
              </a:rPr>
              <a:t>Monthly volume + 3-month baseline + burst months</a:t>
            </a:r>
            <a:endParaRPr lang="en-US" sz="731" dirty="0">
              <a:latin typeface="Bell MT" panose="02020503060305020303" pitchFamily="18" charset="0"/>
            </a:endParaRPr>
          </a:p>
        </p:txBody>
      </p:sp>
      <p:pic>
        <p:nvPicPr>
          <p:cNvPr id="9" name="Image 2" descr="/tmp/h2p-fit-1792325788705-07zm9q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063240"/>
            <a:ext cx="3383280" cy="1508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6270" y="4761644"/>
            <a:ext cx="2766529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14"/>
              </a:lnSpc>
              <a:buNone/>
            </a:pPr>
            <a:r>
              <a:rPr lang="en-US" sz="950" b="0" dirty="0">
                <a:solidFill>
                  <a:srgbClr val="5F6E7C"/>
                </a:solidFill>
                <a:latin typeface="Bell MT" panose="02020503060305020303" pitchFamily="18" charset="0"/>
                <a:ea typeface="Liberation Sans" pitchFamily="34" charset="-122"/>
                <a:cs typeface="Liberation Sans" pitchFamily="34" charset="-120"/>
              </a:rPr>
              <a:t>Isolation Forest anomaly scatter (reviewer activity vs negative ratio)</a:t>
            </a:r>
            <a:endParaRPr lang="en-US" sz="731" dirty="0">
              <a:latin typeface="Bell MT" panose="02020503060305020303" pitchFamily="18" charset="0"/>
            </a:endParaRPr>
          </a:p>
        </p:txBody>
      </p:sp>
      <p:pic>
        <p:nvPicPr>
          <p:cNvPr id="11" name="Image 3" descr="/tmp/h2p-fit-1792325788686-d23al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063240"/>
            <a:ext cx="3383280" cy="1508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773280" y="4761644"/>
            <a:ext cx="18621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14"/>
              </a:lnSpc>
              <a:buNone/>
            </a:pPr>
            <a:r>
              <a:rPr lang="en-US" sz="950" b="0" dirty="0">
                <a:solidFill>
                  <a:srgbClr val="5F6E7C"/>
                </a:solidFill>
                <a:latin typeface="Bell MT" panose="02020503060305020303" pitchFamily="18" charset="0"/>
                <a:ea typeface="Liberation Sans" pitchFamily="34" charset="-122"/>
                <a:cs typeface="Liberation Sans" pitchFamily="34" charset="-120"/>
              </a:rPr>
              <a:t>Image availability and reuse-signal counts</a:t>
            </a:r>
            <a:endParaRPr lang="en-US" sz="731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28600"/>
            <a:ext cx="8636000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  <a:defRPr sz="900">
                <a:solidFill>
                  <a:srgbClr val="1C7E84"/>
                </a:solidFill>
                <a:latin typeface="Aptos"/>
              </a:defRPr>
            </a:pPr>
            <a:r>
              <a:rPr lang="en-US" sz="800" b="1" kern="0" spc="88" dirty="0">
                <a:solidFill>
                  <a:srgbClr val="C0392B"/>
                </a:solidFill>
                <a:latin typeface="Bell MT" panose="02020503060305020303" pitchFamily="18" charset="0"/>
                <a:ea typeface="Liberation Sans Narrow" pitchFamily="34" charset="-122"/>
                <a:cs typeface="Liberation Sans Narrow" pitchFamily="34" charset="-120"/>
              </a:rPr>
              <a:t>14 / 17</a:t>
            </a:r>
            <a:endParaRPr lang="en-US" sz="800" dirty="0">
              <a:latin typeface="Bell MT" panose="0202050306030502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2900" y="435769"/>
            <a:ext cx="8636000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8"/>
              </a:lnSpc>
              <a:buNone/>
              <a:defRPr sz="2200" b="1">
                <a:solidFill>
                  <a:srgbClr val="142D48"/>
                </a:solidFill>
                <a:latin typeface="Aptos Display"/>
              </a:defRPr>
            </a:pPr>
            <a:r>
              <a:rPr lang="en-US" sz="2138" b="1" kern="0" spc="-21" dirty="0">
                <a:solidFill>
                  <a:srgbClr val="1A1A1A"/>
                </a:solidFill>
                <a:latin typeface="Bell MT" panose="02020503060305020303" pitchFamily="18" charset="0"/>
                <a:ea typeface="Liberation Sans" pitchFamily="34" charset="-122"/>
                <a:cs typeface="Liberation Sans" pitchFamily="34" charset="-120"/>
              </a:rPr>
              <a:t>Output Graphs — Forensic Scoring</a:t>
            </a:r>
            <a:endParaRPr lang="en-US" sz="2138" dirty="0">
              <a:latin typeface="Bell MT" panose="020205030603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42900" y="876449"/>
            <a:ext cx="571500" cy="28575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>
              <a:latin typeface="Bell MT" panose="02020503060305020303" pitchFamily="18" charset="0"/>
            </a:endParaRPr>
          </a:p>
        </p:txBody>
      </p:sp>
      <p:pic>
        <p:nvPicPr>
          <p:cNvPr id="5" name="Image 0" descr="/tmp/h2p-fit-1792325789138-k79y7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3383280" cy="1508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32624" y="2785281"/>
            <a:ext cx="161393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14"/>
              </a:lnSpc>
              <a:buNone/>
            </a:pPr>
            <a:r>
              <a:rPr lang="en-US" sz="950" b="0" dirty="0">
                <a:solidFill>
                  <a:srgbClr val="5F6E7C"/>
                </a:solidFill>
                <a:latin typeface="Bell MT" panose="02020503060305020303" pitchFamily="18" charset="0"/>
                <a:ea typeface="Liberation Sans" pitchFamily="34" charset="-122"/>
                <a:cs typeface="Liberation Sans" pitchFamily="34" charset="-120"/>
              </a:rPr>
              <a:t>Score distribution + thresholds (5, 9)</a:t>
            </a:r>
            <a:endParaRPr lang="en-US" sz="731" dirty="0">
              <a:latin typeface="Bell MT" panose="02020503060305020303" pitchFamily="18" charset="0"/>
            </a:endParaRPr>
          </a:p>
        </p:txBody>
      </p:sp>
      <p:pic>
        <p:nvPicPr>
          <p:cNvPr id="7" name="Image 1" descr="/tmp/h2p-fit-1792325789173-gr122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143000"/>
            <a:ext cx="3383280" cy="1508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29095" y="2785281"/>
            <a:ext cx="175051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14"/>
              </a:lnSpc>
              <a:buNone/>
            </a:pPr>
            <a:r>
              <a:rPr lang="en-US" sz="950" b="0" dirty="0">
                <a:solidFill>
                  <a:srgbClr val="5F6E7C"/>
                </a:solidFill>
                <a:latin typeface="Bell MT" panose="02020503060305020303" pitchFamily="18" charset="0"/>
                <a:ea typeface="Liberation Sans" pitchFamily="34" charset="-122"/>
                <a:cs typeface="Liberation Sans" pitchFamily="34" charset="-120"/>
              </a:rPr>
              <a:t>Priority tier counts across 60,000 cases</a:t>
            </a:r>
            <a:endParaRPr lang="en-US" sz="731" dirty="0">
              <a:latin typeface="Bell MT" panose="02020503060305020303" pitchFamily="18" charset="0"/>
            </a:endParaRPr>
          </a:p>
        </p:txBody>
      </p:sp>
      <p:pic>
        <p:nvPicPr>
          <p:cNvPr id="9" name="Image 2" descr="/tmp/h2p-fit-1792325789190-l6o3w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063240"/>
            <a:ext cx="3383280" cy="1508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64155" y="4761644"/>
            <a:ext cx="1750759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14"/>
              </a:lnSpc>
              <a:buNone/>
            </a:pPr>
            <a:r>
              <a:rPr lang="en-US" sz="950" b="0" dirty="0">
                <a:solidFill>
                  <a:srgbClr val="5F6E7C"/>
                </a:solidFill>
                <a:latin typeface="Bell MT" panose="02020503060305020303" pitchFamily="18" charset="0"/>
                <a:ea typeface="Liberation Sans" pitchFamily="34" charset="-122"/>
                <a:cs typeface="Liberation Sans" pitchFamily="34" charset="-120"/>
              </a:rPr>
              <a:t>Evidence component contribution totals</a:t>
            </a:r>
            <a:endParaRPr lang="en-US" sz="731" dirty="0">
              <a:latin typeface="Bell MT" panose="02020503060305020303" pitchFamily="18" charset="0"/>
            </a:endParaRPr>
          </a:p>
        </p:txBody>
      </p:sp>
      <p:pic>
        <p:nvPicPr>
          <p:cNvPr id="11" name="Image 3" descr="/tmp/h2p-fit-1792325789132-zhxt8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063240"/>
            <a:ext cx="3383280" cy="15087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41018" y="4761644"/>
            <a:ext cx="132678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914"/>
              </a:lnSpc>
              <a:buNone/>
            </a:pPr>
            <a:r>
              <a:rPr lang="en-US" sz="950" b="0" dirty="0">
                <a:solidFill>
                  <a:srgbClr val="5F6E7C"/>
                </a:solidFill>
                <a:latin typeface="Bell MT" panose="02020503060305020303" pitchFamily="18" charset="0"/>
                <a:ea typeface="Liberation Sans Narrow" pitchFamily="34" charset="-122"/>
                <a:cs typeface="Liberation Sans Narrow" pitchFamily="34" charset="-120"/>
              </a:rPr>
              <a:t>Top 15 priority cases by score</a:t>
            </a:r>
            <a:endParaRPr lang="en-US" sz="731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828800" cy="175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1">
                <a:solidFill>
                  <a:srgbClr val="1C7E84"/>
                </a:solidFill>
                <a:latin typeface="Bell MT" panose="02020503060305020303" pitchFamily="18" charset="0"/>
              </a:rPr>
              <a:t>15  / 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29768"/>
            <a:ext cx="8275320" cy="3908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300" b="1">
                <a:solidFill>
                  <a:srgbClr val="142D48"/>
                </a:solidFill>
                <a:latin typeface="Bell MT" panose="02020503060305020303" pitchFamily="18" charset="0"/>
              </a:rPr>
              <a:t>Case Narrative &amp; Investigative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950976"/>
            <a:ext cx="502920" cy="41148"/>
          </a:xfrm>
          <a:prstGeom prst="rect">
            <a:avLst/>
          </a:prstGeom>
          <a:solidFill>
            <a:srgbClr val="DAA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17043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>
                <a:solidFill>
                  <a:srgbClr val="021C35"/>
                </a:solidFill>
                <a:latin typeface="Bell MT" panose="02020503060305020303" pitchFamily="18" charset="0"/>
              </a:rPr>
              <a:t>OBSERVATION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21C35"/>
                </a:solidFill>
                <a:latin typeface="Bell MT" panose="02020503060305020303" pitchFamily="18" charset="0"/>
              </a:rPr>
              <a:t>What the data directly shows—without inference.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1728" y="117043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>
                <a:solidFill>
                  <a:srgbClr val="021C35"/>
                </a:solidFill>
                <a:latin typeface="Bell MT" panose="02020503060305020303" pitchFamily="18" charset="0"/>
              </a:rPr>
              <a:t>INTERPRETATION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21C35"/>
                </a:solidFill>
                <a:latin typeface="Bell MT" panose="02020503060305020303" pitchFamily="18" charset="0"/>
              </a:rPr>
              <a:t>What the signal may mean, expressed cautiously.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79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>
                <a:solidFill>
                  <a:srgbClr val="021C35"/>
                </a:solidFill>
                <a:latin typeface="Bell MT" panose="02020503060305020303" pitchFamily="18" charset="0"/>
              </a:rPr>
              <a:t>ALTERNATIVE EXPLANATIONS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21C35"/>
                </a:solidFill>
                <a:latin typeface="Bell MT" panose="02020503060305020303" pitchFamily="18" charset="0"/>
              </a:rPr>
              <a:t>Record plausible non-fraud causes, such as promotions or common product wording.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1728" y="290779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>
                <a:solidFill>
                  <a:srgbClr val="021C35"/>
                </a:solidFill>
                <a:latin typeface="Bell MT" panose="02020503060305020303" pitchFamily="18" charset="0"/>
              </a:rPr>
              <a:t>NEXT ACTION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021C35"/>
                </a:solidFill>
                <a:latin typeface="Bell MT" panose="02020503060305020303" pitchFamily="18" charset="0"/>
              </a:rPr>
              <a:t>Inspect original evidence, compare reviews and check product/event timelines.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828800" cy="175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1">
                <a:solidFill>
                  <a:srgbClr val="1C7E84"/>
                </a:solidFill>
                <a:latin typeface="Bell MT" panose="02020503060305020303" pitchFamily="18" charset="0"/>
              </a:rPr>
              <a:t>16  / 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29768"/>
            <a:ext cx="8275320" cy="3908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300" b="1">
                <a:solidFill>
                  <a:srgbClr val="142D48"/>
                </a:solidFill>
                <a:latin typeface="Bell MT" panose="02020503060305020303" pitchFamily="18" charset="0"/>
              </a:rPr>
              <a:t>Population Insights &amp; Output Artifacts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950976"/>
            <a:ext cx="502920" cy="41148"/>
          </a:xfrm>
          <a:prstGeom prst="rect">
            <a:avLst/>
          </a:prstGeom>
          <a:solidFill>
            <a:srgbClr val="DAA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66928" y="117043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>
                <a:solidFill>
                  <a:srgbClr val="021C35"/>
                </a:solidFill>
                <a:latin typeface="Bell MT" panose="02020503060305020303" pitchFamily="18" charset="0"/>
              </a:rPr>
              <a:t>DATA &amp; FEATURES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21C35"/>
                </a:solidFill>
                <a:latin typeface="Bell MT" panose="02020503060305020303" pitchFamily="18" charset="0"/>
              </a:rPr>
              <a:t>cleaned_negative_reviews.csv · reviewer_features.csv · product_features.csv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1728" y="117043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 dirty="0">
                <a:solidFill>
                  <a:srgbClr val="021C35"/>
                </a:solidFill>
                <a:latin typeface="Bell MT" panose="02020503060305020303" pitchFamily="18" charset="0"/>
              </a:rPr>
              <a:t>SIGNAL ANALYSES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21C35"/>
                </a:solidFill>
                <a:latin typeface="Bell MT" panose="02020503060305020303" pitchFamily="18" charset="0"/>
              </a:rPr>
              <a:t>monthly_temporal_analysis.csv</a:t>
            </a:r>
            <a:r>
              <a:rPr lang="en-US" sz="1300" dirty="0">
                <a:solidFill>
                  <a:srgbClr val="021C35"/>
                </a:solidFill>
                <a:latin typeface="Bell MT" panose="02020503060305020303" pitchFamily="18" charset="0"/>
              </a:rPr>
              <a:t>,</a:t>
            </a:r>
            <a:r>
              <a:rPr sz="1300" dirty="0">
                <a:solidFill>
                  <a:srgbClr val="021C35"/>
                </a:solidFill>
                <a:latin typeface="Bell MT" panose="02020503060305020303" pitchFamily="18" charset="0"/>
              </a:rPr>
              <a:t> text_similarity_analysis.csv</a:t>
            </a:r>
            <a:r>
              <a:rPr lang="en-US" sz="1300" dirty="0">
                <a:solidFill>
                  <a:srgbClr val="021C35"/>
                </a:solidFill>
                <a:latin typeface="Bell MT" panose="02020503060305020303" pitchFamily="18" charset="0"/>
              </a:rPr>
              <a:t>,</a:t>
            </a:r>
            <a:r>
              <a:rPr sz="1300" dirty="0">
                <a:solidFill>
                  <a:srgbClr val="021C35"/>
                </a:solidFill>
                <a:latin typeface="Bell MT" panose="02020503060305020303" pitchFamily="18" charset="0"/>
              </a:rPr>
              <a:t> image_similarity_matches.csv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79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>
                <a:solidFill>
                  <a:srgbClr val="021C35"/>
                </a:solidFill>
                <a:latin typeface="Bell MT" panose="02020503060305020303" pitchFamily="18" charset="0"/>
              </a:rPr>
              <a:t>INVESTIGATION FILES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21C35"/>
                </a:solidFill>
                <a:latin typeface="Bell MT" panose="02020503060305020303" pitchFamily="18" charset="0"/>
              </a:rPr>
              <a:t>forensic_case_register.csv · priority_case_narratives.csv · evidence_matrix.csv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1728" y="2907792"/>
            <a:ext cx="3886200" cy="1417320"/>
          </a:xfrm>
          <a:prstGeom prst="roundRect">
            <a:avLst/>
          </a:prstGeom>
          <a:solidFill>
            <a:srgbClr val="F6F8FA"/>
          </a:solidFill>
          <a:ln w="10160"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46304" tIns="109728" rIns="118872" bIns="73152" rtlCol="0" anchor="t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sz="1000" b="1" dirty="0">
                <a:solidFill>
                  <a:srgbClr val="021C35"/>
                </a:solidFill>
                <a:latin typeface="Bell MT" panose="02020503060305020303" pitchFamily="18" charset="0"/>
              </a:rPr>
              <a:t>AUDIT &amp; SUMMARY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dirty="0">
                <a:solidFill>
                  <a:srgbClr val="021C35"/>
                </a:solidFill>
                <a:latin typeface="Bell MT" panose="02020503060305020303" pitchFamily="18" charset="0"/>
              </a:rPr>
              <a:t>population_level_insights.csv</a:t>
            </a:r>
            <a:r>
              <a:rPr lang="en-US" sz="1300" dirty="0">
                <a:solidFill>
                  <a:srgbClr val="021C35"/>
                </a:solidFill>
                <a:latin typeface="Bell MT" panose="02020503060305020303" pitchFamily="18" charset="0"/>
              </a:rPr>
              <a:t>,</a:t>
            </a:r>
            <a:r>
              <a:rPr sz="1300" dirty="0">
                <a:solidFill>
                  <a:srgbClr val="021C35"/>
                </a:solidFill>
                <a:latin typeface="Bell MT" panose="02020503060305020303" pitchFamily="18" charset="0"/>
              </a:rPr>
              <a:t> image_download_log.csv. 11 artifacts support traceability.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01168"/>
            <a:ext cx="1828800" cy="175433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1">
                <a:solidFill>
                  <a:srgbClr val="1C7E84"/>
                </a:solidFill>
                <a:latin typeface="Bell MT" panose="02020503060305020303" pitchFamily="18" charset="0"/>
              </a:rPr>
              <a:t>17  / 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429768"/>
            <a:ext cx="8275320" cy="390876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300" b="1">
                <a:solidFill>
                  <a:srgbClr val="142D48"/>
                </a:solidFill>
                <a:latin typeface="Bell MT" panose="02020503060305020303" pitchFamily="18" charset="0"/>
              </a:rPr>
              <a:t>Business Relevance &amp; Closing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" y="950976"/>
            <a:ext cx="502920" cy="41148"/>
          </a:xfrm>
          <a:prstGeom prst="rect">
            <a:avLst/>
          </a:prstGeom>
          <a:solidFill>
            <a:srgbClr val="DAA9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ell MT" panose="02020503060305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247822"/>
            <a:ext cx="8028431" cy="3125599"/>
          </a:xfrm>
          <a:prstGeom prst="rect">
            <a:avLst/>
          </a:prstGeom>
          <a:noFill/>
        </p:spPr>
        <p:txBody>
          <a:bodyPr wrap="square" lIns="73152" tIns="36576" rIns="73152" bIns="18288">
            <a:spAutoFit/>
          </a:bodyPr>
          <a:lstStyle/>
          <a:p>
            <a:pPr marL="285750" indent="-285750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Font typeface="Arial" panose="020B0604020202020204" pitchFamily="34" charset="0"/>
              <a:buChar char="•"/>
              <a:defRPr sz="1320" b="0">
                <a:solidFill>
                  <a:srgbClr val="283441"/>
                </a:solidFill>
                <a:latin typeface="Ariom"/>
              </a:defRPr>
            </a:pPr>
            <a:r>
              <a:rPr sz="1320" b="1" dirty="0">
                <a:solidFill>
                  <a:srgbClr val="16304C"/>
                </a:solidFill>
                <a:latin typeface="Bell MT" panose="02020503060305020303" pitchFamily="18" charset="0"/>
              </a:rPr>
              <a:t>Trust &amp; Safety teams get a prioritized case queue instead of manual triage — </a:t>
            </a:r>
            <a:r>
              <a:rPr sz="1320" b="0" dirty="0">
                <a:latin typeface="Bell MT" panose="02020503060305020303" pitchFamily="18" charset="0"/>
              </a:rPr>
              <a:t>50 priority cases out of 60,000.</a:t>
            </a:r>
          </a:p>
          <a:p>
            <a:pPr marL="285750" indent="-285750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Font typeface="Arial" panose="020B0604020202020204" pitchFamily="34" charset="0"/>
              <a:buChar char="•"/>
              <a:defRPr sz="1320" b="0">
                <a:solidFill>
                  <a:srgbClr val="283441"/>
                </a:solidFill>
                <a:latin typeface="Ariom"/>
              </a:defRPr>
            </a:pPr>
            <a:r>
              <a:rPr sz="1320" b="1" dirty="0">
                <a:solidFill>
                  <a:srgbClr val="16304C"/>
                </a:solidFill>
                <a:latin typeface="Bell MT" panose="02020503060305020303" pitchFamily="18" charset="0"/>
              </a:rPr>
              <a:t>Brand Protection teams</a:t>
            </a:r>
            <a:r>
              <a:rPr sz="1320" dirty="0">
                <a:latin typeface="Bell MT" panose="02020503060305020303" pitchFamily="18" charset="0"/>
              </a:rPr>
              <a:t> get seller-fraud and counterfeit leads via complaint categories, image reuse signals, and reviewer-product network clusters.</a:t>
            </a:r>
          </a:p>
          <a:p>
            <a:pPr marL="285750" indent="-285750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Font typeface="Arial" panose="020B0604020202020204" pitchFamily="34" charset="0"/>
              <a:buChar char="•"/>
              <a:defRPr sz="1320" b="0">
                <a:solidFill>
                  <a:srgbClr val="283441"/>
                </a:solidFill>
                <a:latin typeface="Ariom"/>
              </a:defRPr>
            </a:pPr>
            <a:r>
              <a:rPr sz="1320" b="1" dirty="0">
                <a:solidFill>
                  <a:srgbClr val="16304C"/>
                </a:solidFill>
                <a:latin typeface="Bell MT" panose="02020503060305020303" pitchFamily="18" charset="0"/>
              </a:rPr>
              <a:t>Product teams</a:t>
            </a:r>
            <a:r>
              <a:rPr sz="1320" dirty="0">
                <a:latin typeface="Bell MT" panose="02020503060305020303" pitchFamily="18" charset="0"/>
              </a:rPr>
              <a:t> get burst-month and rating-deviation signals for recall, quality, and shipping-disruption investigations.</a:t>
            </a:r>
          </a:p>
          <a:p>
            <a:pPr marL="285750" indent="-285750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Font typeface="Arial" panose="020B0604020202020204" pitchFamily="34" charset="0"/>
              <a:buChar char="•"/>
              <a:defRPr sz="1320" b="0">
                <a:solidFill>
                  <a:srgbClr val="283441"/>
                </a:solidFill>
                <a:latin typeface="Ariom"/>
              </a:defRPr>
            </a:pPr>
            <a:r>
              <a:rPr sz="1320" b="1" dirty="0">
                <a:solidFill>
                  <a:srgbClr val="16304C"/>
                </a:solidFill>
                <a:latin typeface="Bell MT" panose="02020503060305020303" pitchFamily="18" charset="0"/>
              </a:rPr>
              <a:t>Customer Service teams</a:t>
            </a:r>
            <a:r>
              <a:rPr sz="1320" dirty="0">
                <a:latin typeface="Bell MT" panose="02020503060305020303" pitchFamily="18" charset="0"/>
              </a:rPr>
              <a:t> get complaint-theme breakdowns to prioritize product, seller, and delivery fixes.</a:t>
            </a:r>
          </a:p>
          <a:p>
            <a:pPr marL="285750" indent="-285750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Font typeface="Arial" panose="020B0604020202020204" pitchFamily="34" charset="0"/>
              <a:buChar char="•"/>
              <a:defRPr sz="1320" b="0">
                <a:solidFill>
                  <a:srgbClr val="283441"/>
                </a:solidFill>
                <a:latin typeface="Ariom"/>
              </a:defRPr>
            </a:pPr>
            <a:r>
              <a:rPr sz="1320" b="1" dirty="0">
                <a:solidFill>
                  <a:srgbClr val="16304C"/>
                </a:solidFill>
                <a:latin typeface="Bell MT" panose="02020503060305020303" pitchFamily="18" charset="0"/>
              </a:rPr>
              <a:t>Auditors</a:t>
            </a:r>
            <a:r>
              <a:rPr sz="1320" dirty="0">
                <a:latin typeface="Bell MT" panose="02020503060305020303" pitchFamily="18" charset="0"/>
              </a:rPr>
              <a:t> get a transparent evidence matrix with alternative explanations attached to every signal.</a:t>
            </a:r>
          </a:p>
          <a:p>
            <a:pPr marL="285750" indent="-285750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Font typeface="Arial" panose="020B0604020202020204" pitchFamily="34" charset="0"/>
              <a:buChar char="•"/>
              <a:defRPr sz="1320" b="0">
                <a:solidFill>
                  <a:srgbClr val="283441"/>
                </a:solidFill>
                <a:latin typeface="Ariom"/>
              </a:defRPr>
            </a:pPr>
            <a:r>
              <a:rPr sz="1320" b="1" dirty="0">
                <a:solidFill>
                  <a:srgbClr val="16304C"/>
                </a:solidFill>
                <a:latin typeface="Bell MT" panose="02020503060305020303" pitchFamily="18" charset="0"/>
              </a:rPr>
              <a:t>Standing caveat across the entire system: </a:t>
            </a:r>
            <a:r>
              <a:rPr sz="1320" b="0" dirty="0">
                <a:latin typeface="Bell MT" panose="02020503060305020303" pitchFamily="18" charset="0"/>
              </a:rPr>
              <a:t>the forensic score is a prioritization mechanism, not proof of misconduct — every lead requires contextual validation.</a:t>
            </a:r>
          </a:p>
          <a:p>
            <a:pPr marL="285750" indent="-285750">
              <a:lnSpc>
                <a:spcPct val="104000"/>
              </a:lnSpc>
              <a:spcBef>
                <a:spcPts val="0"/>
              </a:spcBef>
              <a:spcAft>
                <a:spcPts val="700"/>
              </a:spcAft>
              <a:buFont typeface="Arial" panose="020B0604020202020204" pitchFamily="34" charset="0"/>
              <a:buChar char="•"/>
              <a:defRPr sz="1320" b="0">
                <a:solidFill>
                  <a:srgbClr val="283441"/>
                </a:solidFill>
                <a:latin typeface="Ariom"/>
              </a:defRPr>
            </a:pPr>
            <a:r>
              <a:rPr sz="1320" b="1" dirty="0">
                <a:solidFill>
                  <a:srgbClr val="16304C"/>
                </a:solidFill>
                <a:latin typeface="Bell MT" panose="02020503060305020303" pitchFamily="18" charset="0"/>
              </a:rPr>
              <a:t>Outcome: </a:t>
            </a:r>
            <a:r>
              <a:rPr sz="1320" b="0" dirty="0">
                <a:latin typeface="Bell MT" panose="02020503060305020303" pitchFamily="18" charset="0"/>
              </a:rPr>
              <a:t>a structured, auditable forensic workflow that turns 60,000 raw reviews into a 50-case priority queue with full reasoning attached to each case.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3083</Words>
  <Application>Microsoft Office PowerPoint</Application>
  <PresentationFormat>On-screen Show (16:9)</PresentationFormat>
  <Paragraphs>199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Bell MT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Priyanka Sundar</cp:lastModifiedBy>
  <cp:revision>4</cp:revision>
  <dcterms:created xsi:type="dcterms:W3CDTF">2026-10-18T12:16:29Z</dcterms:created>
  <dcterms:modified xsi:type="dcterms:W3CDTF">2026-10-26T02:50:14Z</dcterms:modified>
</cp:coreProperties>
</file>